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70" r:id="rId12"/>
    <p:sldId id="271" r:id="rId13"/>
    <p:sldId id="267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50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20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3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114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87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82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77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1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99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774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9614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697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7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211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601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9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48D3D83-C958-4965-B89E-7018EBA1474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5C290B8-3E7D-4BB5-833E-8E0DC728D2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217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C407-AFFF-09FE-FD87-23892DA9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>
                <a:latin typeface="Arial Rounded MT Bold" panose="020F0704030504030204" pitchFamily="34" charset="0"/>
              </a:rPr>
              <a:t>TEAM NEXUS</a:t>
            </a:r>
            <a:endParaRPr lang="en-IN" sz="880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2D692-FC80-EB4F-23A3-B9D6BB310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>
              <a:latin typeface="Britannic Bold" panose="020B0903060703020204" pitchFamily="34" charset="0"/>
            </a:endParaRPr>
          </a:p>
          <a:p>
            <a:pPr marL="0" indent="0" algn="ctr">
              <a:buNone/>
            </a:pPr>
            <a:r>
              <a:rPr lang="en-US" sz="6000">
                <a:latin typeface="Britannic Bold" panose="020B0903060703020204" pitchFamily="34" charset="0"/>
              </a:rPr>
              <a:t>AI DUNGEON MASTER</a:t>
            </a:r>
          </a:p>
          <a:p>
            <a:pPr marL="0" indent="0" algn="ctr">
              <a:buNone/>
            </a:pPr>
            <a:r>
              <a:rPr lang="en-US" sz="3200">
                <a:latin typeface="Britannic Bold" panose="020B0903060703020204" pitchFamily="34" charset="0"/>
              </a:rPr>
              <a:t>Ruchir Sharma</a:t>
            </a:r>
          </a:p>
          <a:p>
            <a:pPr marL="0" indent="0" algn="ctr">
              <a:buNone/>
            </a:pPr>
            <a:r>
              <a:rPr lang="en-US" sz="3200">
                <a:latin typeface="Britannic Bold" panose="020B0903060703020204" pitchFamily="34" charset="0"/>
              </a:rPr>
              <a:t>Sathvik Prabhu</a:t>
            </a:r>
            <a:endParaRPr lang="en-IN" sz="320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672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0355-7E7D-8451-4EEB-7FA19C03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>
                <a:latin typeface="Cooper Black" panose="0208090404030B020404" pitchFamily="18" charset="0"/>
              </a:rPr>
              <a:t>INTRODUCTION</a:t>
            </a:r>
            <a:endParaRPr lang="en-IN" sz="7200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C31E8-D0B3-DA32-792A-B0C08CBC0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/>
              <a:t>Large Language Models are creative storytellers, but they have one major flaw: they forget. Our project, the AI Dungeon Master, solves this.</a:t>
            </a:r>
          </a:p>
          <a:p>
            <a:pPr marL="0" indent="0">
              <a:buNone/>
            </a:pPr>
            <a:endParaRPr lang="en-US" sz="3200" b="1"/>
          </a:p>
          <a:p>
            <a:r>
              <a:rPr lang="en-US" sz="3200" b="1"/>
              <a:t>Our AI Dungeon Master tackles this problem directly with a multi-layered memory architecture ensuring long term narrative coherence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9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E3F0-6B7E-C49A-7213-D44332C65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06418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Cooper Black" panose="0208090404030B020404" pitchFamily="18" charset="0"/>
              </a:rPr>
              <a:t>BASIC MEMORY ARCHITECHTURE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73F78-D1DC-CF03-759C-CC5C069F5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094" y="1746280"/>
            <a:ext cx="10233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/>
              <a:t>Our model uses :</a:t>
            </a:r>
            <a:endParaRPr lang="en-US" sz="3200"/>
          </a:p>
          <a:p>
            <a:pPr marL="0" indent="0">
              <a:buNone/>
            </a:pPr>
            <a:endParaRPr lang="en-US"/>
          </a:p>
          <a:p>
            <a:pPr lvl="1"/>
            <a:r>
              <a:rPr lang="en-US" b="1" u="sng"/>
              <a:t>Short-Term (Working) Memory</a:t>
            </a:r>
            <a:r>
              <a:rPr lang="en-US" b="1"/>
              <a:t>: A fixed-size buffer that holds the last few conversational turns for immediate, turn-by-turn context.</a:t>
            </a:r>
            <a:br>
              <a:rPr lang="en-US"/>
            </a:br>
            <a:endParaRPr lang="en-US"/>
          </a:p>
          <a:p>
            <a:pPr lvl="1"/>
            <a:r>
              <a:rPr lang="en-US" b="1" u="sng"/>
              <a:t>Long-Term Episodic Memory</a:t>
            </a:r>
            <a:r>
              <a:rPr lang="en-US" b="1"/>
              <a:t>: A vector store that embeds the entire narrative history, allowing for intelligent semantic search to recall past events based on their meaning.</a:t>
            </a:r>
            <a:br>
              <a:rPr lang="en-US"/>
            </a:br>
            <a:endParaRPr lang="en-US"/>
          </a:p>
          <a:p>
            <a:pPr lvl="1"/>
            <a:r>
              <a:rPr lang="en-US" b="1" u="sng"/>
              <a:t>Long-Term Factual Memory</a:t>
            </a:r>
            <a:r>
              <a:rPr lang="en-US" b="1"/>
              <a:t>: A Neo4j knowledge graph that stores structured facts about the world's entities (characters, items, locations) and their current relationships.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A1A1-78EA-1D7D-9B84-25CF374A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oper Black" panose="0208090404030B020404" pitchFamily="18" charset="0"/>
              </a:rPr>
              <a:t>LOW LEVEL ARCHITECTURE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D6A7-BB1F-3AB3-1CF5-BB0BF905A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330"/>
            <a:ext cx="1051560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Our model is built on modular architecture with the following core modules:</a:t>
            </a:r>
          </a:p>
          <a:p>
            <a:r>
              <a:rPr lang="en-IN"/>
              <a:t>vector_store.py</a:t>
            </a:r>
          </a:p>
          <a:p>
            <a:r>
              <a:rPr lang="en-IN"/>
              <a:t>graph_store.py</a:t>
            </a:r>
          </a:p>
          <a:p>
            <a:r>
              <a:rPr lang="en-IN"/>
              <a:t>llm_client.py</a:t>
            </a:r>
          </a:p>
          <a:p>
            <a:r>
              <a:rPr lang="en-IN"/>
              <a:t>memory_manager.py</a:t>
            </a:r>
          </a:p>
          <a:p>
            <a:pPr marL="0" indent="0">
              <a:buNone/>
            </a:pPr>
            <a:r>
              <a:rPr lang="en-IN"/>
              <a:t>and main.py to handle the player input.</a:t>
            </a:r>
          </a:p>
        </p:txBody>
      </p:sp>
    </p:spTree>
    <p:extLst>
      <p:ext uri="{BB962C8B-B14F-4D97-AF65-F5344CB8AC3E}">
        <p14:creationId xmlns:p14="http://schemas.microsoft.com/office/powerpoint/2010/main" val="211332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13689-287F-4F93-3D64-D1AFF3FC7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235974"/>
            <a:ext cx="10233800" cy="594098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vector_store.py: </a:t>
            </a:r>
            <a:r>
              <a:rPr lang="en-US" dirty="0"/>
              <a:t>This module is used to store all the interactions made between the Dungeon Master and the player in </a:t>
            </a:r>
            <a:r>
              <a:rPr lang="en-US" dirty="0" err="1"/>
              <a:t>json</a:t>
            </a:r>
            <a:r>
              <a:rPr lang="en-US" dirty="0"/>
              <a:t> format including their embeddings.</a:t>
            </a:r>
          </a:p>
          <a:p>
            <a:endParaRPr lang="en-US" dirty="0"/>
          </a:p>
          <a:p>
            <a:r>
              <a:rPr lang="en-US" b="1" dirty="0"/>
              <a:t>graph_store.py: </a:t>
            </a:r>
            <a:r>
              <a:rPr lang="en-US" dirty="0"/>
              <a:t>This module uses neo4j, a graph database that can store complex relations between various entities in a knowledge graph.</a:t>
            </a:r>
          </a:p>
          <a:p>
            <a:endParaRPr lang="en-US" dirty="0"/>
          </a:p>
          <a:p>
            <a:r>
              <a:rPr lang="en-US" b="1" dirty="0"/>
              <a:t>llm_client.py: </a:t>
            </a:r>
            <a:r>
              <a:rPr lang="en-US" dirty="0"/>
              <a:t>This module uses two </a:t>
            </a:r>
            <a:r>
              <a:rPr lang="en-US" dirty="0" err="1"/>
              <a:t>groq</a:t>
            </a:r>
            <a:r>
              <a:rPr lang="en-US" dirty="0"/>
              <a:t> </a:t>
            </a:r>
            <a:r>
              <a:rPr lang="en-US" dirty="0" err="1"/>
              <a:t>llms</a:t>
            </a:r>
            <a:r>
              <a:rPr lang="en-US" dirty="0"/>
              <a:t>. One is used to generate the storyline while the other is used to find out the important relations between entities to be retrieved and stored into the knowledge graph.</a:t>
            </a:r>
          </a:p>
          <a:p>
            <a:endParaRPr lang="en-US" dirty="0"/>
          </a:p>
          <a:p>
            <a:r>
              <a:rPr lang="en-US" b="1" dirty="0"/>
              <a:t>memory_manager.py: </a:t>
            </a:r>
            <a:r>
              <a:rPr lang="en-US" dirty="0"/>
              <a:t>This module is used to manage all the memory both in the graph and the </a:t>
            </a:r>
            <a:r>
              <a:rPr lang="en-US" dirty="0" err="1"/>
              <a:t>json</a:t>
            </a:r>
            <a:r>
              <a:rPr lang="en-US" dirty="0"/>
              <a:t> file. This also generates the storyline and automatically updates the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26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F969-C9CA-DB1F-2EA7-3F669C749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>
                <a:latin typeface="Cooper Black" panose="0208090404030B020404" pitchFamily="18" charset="0"/>
              </a:rPr>
              <a:t>BASIC MODULAR STRUCTURE</a:t>
            </a:r>
            <a:endParaRPr lang="en-IN">
              <a:latin typeface="Cooper Black" panose="0208090404030B020404" pitchFamily="18" charset="0"/>
            </a:endParaRP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6EE5948A-7E62-9165-1014-48B41B2FE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266" y="-867205"/>
            <a:ext cx="12512532" cy="10023682"/>
          </a:xfrm>
        </p:spPr>
      </p:pic>
    </p:spTree>
    <p:extLst>
      <p:ext uri="{BB962C8B-B14F-4D97-AF65-F5344CB8AC3E}">
        <p14:creationId xmlns:p14="http://schemas.microsoft.com/office/powerpoint/2010/main" val="1917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902F-2089-5B4E-4559-85EC988B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9600">
                <a:latin typeface="Cooper Black" panose="0208090404030B020404" pitchFamily="18" charset="0"/>
              </a:rPr>
              <a:t>DATAFLOW</a:t>
            </a:r>
            <a:endParaRPr lang="en-IN" sz="9600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89FCC-83BB-A609-A172-33D9B5C49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/>
              <a:t>In the next few slides lets see how our model functions. </a:t>
            </a:r>
            <a:endParaRPr lang="en-IN" sz="6000"/>
          </a:p>
        </p:txBody>
      </p:sp>
    </p:spTree>
    <p:extLst>
      <p:ext uri="{BB962C8B-B14F-4D97-AF65-F5344CB8AC3E}">
        <p14:creationId xmlns:p14="http://schemas.microsoft.com/office/powerpoint/2010/main" val="275363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6117-EFEC-EFBE-2FAF-CCE34069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>
                <a:latin typeface="Cooper Black" panose="0208090404030B020404" pitchFamily="18" charset="0"/>
              </a:rPr>
              <a:t>MEMORY READ AND RETRIVAL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32DA-F8A1-C28A-3ABC-CC6374844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player input is sent to the Memory Manager. </a:t>
            </a:r>
          </a:p>
          <a:p>
            <a:r>
              <a:rPr lang="en-US" dirty="0"/>
              <a:t>It performs a semantic search on the vector storage to find the past information relevant to the player’s current input.</a:t>
            </a:r>
          </a:p>
          <a:p>
            <a:r>
              <a:rPr lang="en-US" dirty="0"/>
              <a:t>It uses one </a:t>
            </a:r>
            <a:r>
              <a:rPr lang="en-US" dirty="0" err="1"/>
              <a:t>llm</a:t>
            </a:r>
            <a:r>
              <a:rPr lang="en-US" dirty="0"/>
              <a:t> to extract the relevant entities from the player input and past information and then adds the direct relations from the knowledge graph to the context.</a:t>
            </a:r>
          </a:p>
          <a:p>
            <a:r>
              <a:rPr lang="en-US" dirty="0"/>
              <a:t>Finally, the working buffer is added to the context to finally get a context that remembers the near past and the relevant info about the previous characters and events.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134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CFE3-16BF-4EB0-267C-DEE5892B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Cooper Black" panose="0208090404030B020404" pitchFamily="18" charset="0"/>
              </a:rPr>
              <a:t>AI RESPONSE GENERATION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475B8-3C19-36BD-885D-111EF0D1B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rich, focused context is assembled into a detailed prompt and sent to the other LLM.</a:t>
            </a:r>
          </a:p>
          <a:p>
            <a:r>
              <a:rPr lang="en-US" dirty="0"/>
              <a:t>The LLM then generates a coherent and consistent narrative response that respects both the immediate action and the long-term history of the world.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6459-4A89-3127-C9CA-A5982817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oper Black" panose="0208090404030B020404" pitchFamily="18" charset="0"/>
              </a:rPr>
              <a:t>MEMORY UPDATE</a:t>
            </a:r>
            <a:endParaRPr lang="en-IN" dirty="0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35DC-173D-5248-DC5B-E05C2B044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final step in the process.</a:t>
            </a:r>
          </a:p>
          <a:p>
            <a:r>
              <a:rPr lang="en-US" dirty="0"/>
              <a:t>The full turn (the player’s input and the Dungeon Master’s response) is saved as a new entry in the vector storage and also the working buffer.</a:t>
            </a:r>
          </a:p>
          <a:p>
            <a:r>
              <a:rPr lang="en-US" dirty="0"/>
              <a:t>This full turn data is again sent to the initial LLM to extract new facts.</a:t>
            </a:r>
          </a:p>
          <a:p>
            <a:r>
              <a:rPr lang="en-IN" dirty="0"/>
              <a:t>These extracted facts are then saved into the knowledge graph.</a:t>
            </a:r>
          </a:p>
        </p:txBody>
      </p:sp>
    </p:spTree>
    <p:extLst>
      <p:ext uri="{BB962C8B-B14F-4D97-AF65-F5344CB8AC3E}">
        <p14:creationId xmlns:p14="http://schemas.microsoft.com/office/powerpoint/2010/main" val="131453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BE1670-25B0-D24A-B1EE-40C096D8C942}"/>
              </a:ext>
            </a:extLst>
          </p:cNvPr>
          <p:cNvSpPr/>
          <p:nvPr/>
        </p:nvSpPr>
        <p:spPr>
          <a:xfrm>
            <a:off x="476250" y="491966"/>
            <a:ext cx="2545080" cy="10461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0EDC45-F335-0E73-5D99-1B35986B85EB}"/>
              </a:ext>
            </a:extLst>
          </p:cNvPr>
          <p:cNvSpPr/>
          <p:nvPr/>
        </p:nvSpPr>
        <p:spPr>
          <a:xfrm>
            <a:off x="4244340" y="304800"/>
            <a:ext cx="2346960" cy="1432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Memory Manager Receives Input</a:t>
            </a:r>
            <a:endParaRPr lang="en-US"/>
          </a:p>
          <a:p>
            <a:r>
              <a:rPr lang="en-US"/>
              <a:t>Receives the player’s input for processing.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F1B0FA-55B7-62D6-1AEE-9E101578F34F}"/>
              </a:ext>
            </a:extLst>
          </p:cNvPr>
          <p:cNvSpPr/>
          <p:nvPr/>
        </p:nvSpPr>
        <p:spPr>
          <a:xfrm>
            <a:off x="537210" y="2205737"/>
            <a:ext cx="3779520" cy="1336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B60695-0B0F-2E33-C192-EF5FF31B0842}"/>
              </a:ext>
            </a:extLst>
          </p:cNvPr>
          <p:cNvSpPr/>
          <p:nvPr/>
        </p:nvSpPr>
        <p:spPr>
          <a:xfrm>
            <a:off x="5074920" y="2205737"/>
            <a:ext cx="3032760" cy="1432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58F54B-EACF-0316-090D-859DD6B63A74}"/>
              </a:ext>
            </a:extLst>
          </p:cNvPr>
          <p:cNvSpPr/>
          <p:nvPr/>
        </p:nvSpPr>
        <p:spPr>
          <a:xfrm>
            <a:off x="647700" y="4374088"/>
            <a:ext cx="4373880" cy="18449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F3913B-1D1C-82CC-F1A1-F6DEDE4D09A8}"/>
              </a:ext>
            </a:extLst>
          </p:cNvPr>
          <p:cNvSpPr/>
          <p:nvPr/>
        </p:nvSpPr>
        <p:spPr>
          <a:xfrm>
            <a:off x="5543550" y="4397408"/>
            <a:ext cx="4251960" cy="20491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9988A4-68C9-783B-810F-244A0147166E}"/>
              </a:ext>
            </a:extLst>
          </p:cNvPr>
          <p:cNvSpPr/>
          <p:nvPr/>
        </p:nvSpPr>
        <p:spPr>
          <a:xfrm>
            <a:off x="8237219" y="411480"/>
            <a:ext cx="3261362" cy="1432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4EF43-BCF9-88B6-AF3E-68095B169486}"/>
              </a:ext>
            </a:extLst>
          </p:cNvPr>
          <p:cNvSpPr txBox="1"/>
          <p:nvPr/>
        </p:nvSpPr>
        <p:spPr>
          <a:xfrm>
            <a:off x="537210" y="614823"/>
            <a:ext cx="2484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Player Input</a:t>
            </a:r>
            <a:endParaRPr lang="en-US" dirty="0"/>
          </a:p>
          <a:p>
            <a:r>
              <a:rPr lang="en-US" dirty="0"/>
              <a:t>The player provides an action or command.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02B9F-320D-669F-0FDC-C6A9F39589E9}"/>
              </a:ext>
            </a:extLst>
          </p:cNvPr>
          <p:cNvSpPr txBox="1"/>
          <p:nvPr/>
        </p:nvSpPr>
        <p:spPr>
          <a:xfrm>
            <a:off x="8435339" y="537031"/>
            <a:ext cx="30632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Semantic Search </a:t>
            </a:r>
          </a:p>
          <a:p>
            <a:r>
              <a:rPr lang="en-US" dirty="0"/>
              <a:t>Search vector store (episodic memory) for relevant past events related to input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83939-1B2B-4BCD-85A4-29776698482C}"/>
              </a:ext>
            </a:extLst>
          </p:cNvPr>
          <p:cNvSpPr txBox="1"/>
          <p:nvPr/>
        </p:nvSpPr>
        <p:spPr>
          <a:xfrm>
            <a:off x="5021580" y="2351943"/>
            <a:ext cx="3154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 Step 2: Entity Extraction</a:t>
            </a:r>
          </a:p>
          <a:p>
            <a:pPr algn="ctr"/>
            <a:r>
              <a:rPr lang="en-IN" dirty="0"/>
              <a:t> Use LLM to extract relevant entities from current input + retrieved past events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DB2992-C439-1D9A-0764-1F9834B12908}"/>
              </a:ext>
            </a:extLst>
          </p:cNvPr>
          <p:cNvSpPr txBox="1"/>
          <p:nvPr/>
        </p:nvSpPr>
        <p:spPr>
          <a:xfrm>
            <a:off x="811530" y="2404944"/>
            <a:ext cx="362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Step 3: Knowledge Graph</a:t>
            </a:r>
          </a:p>
          <a:p>
            <a:r>
              <a:rPr lang="en-IN" dirty="0"/>
              <a:t>Retrieve direct relationships for extracted entities from </a:t>
            </a:r>
            <a:r>
              <a:rPr lang="en-IN" dirty="0" err="1"/>
              <a:t>GraphStore</a:t>
            </a:r>
            <a:r>
              <a:rPr lang="en-IN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1A3FFA-CFD9-FFEB-00C1-43151A1BE9B7}"/>
              </a:ext>
            </a:extLst>
          </p:cNvPr>
          <p:cNvSpPr txBox="1"/>
          <p:nvPr/>
        </p:nvSpPr>
        <p:spPr>
          <a:xfrm>
            <a:off x="963930" y="4419406"/>
            <a:ext cx="4114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4: Assemble Context  </a:t>
            </a:r>
          </a:p>
          <a:p>
            <a:r>
              <a:rPr lang="en-IN" dirty="0"/>
              <a:t>Combine:                    </a:t>
            </a:r>
          </a:p>
          <a:p>
            <a:r>
              <a:rPr lang="en-IN" dirty="0"/>
              <a:t> -    Working buffer (recent actions)</a:t>
            </a:r>
          </a:p>
          <a:p>
            <a:pPr marL="285750" indent="-285750">
              <a:buFontTx/>
              <a:buChar char="-"/>
            </a:pPr>
            <a:r>
              <a:rPr lang="en-IN" dirty="0"/>
              <a:t>Episodic memory hits</a:t>
            </a:r>
          </a:p>
          <a:p>
            <a:pPr marL="285750" indent="-285750">
              <a:buFontTx/>
              <a:buChar char="-"/>
            </a:pPr>
            <a:r>
              <a:rPr lang="en-IN" dirty="0"/>
              <a:t>Graph context (entity relationships)</a:t>
            </a:r>
          </a:p>
          <a:p>
            <a:r>
              <a:rPr lang="en-IN" dirty="0"/>
              <a:t>→ Rich, focused context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3A49DE-A0EA-B420-9AC6-5C6DE7BB43F8}"/>
              </a:ext>
            </a:extLst>
          </p:cNvPr>
          <p:cNvSpPr txBox="1"/>
          <p:nvPr/>
        </p:nvSpPr>
        <p:spPr>
          <a:xfrm>
            <a:off x="5715000" y="4566643"/>
            <a:ext cx="4251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Generate Narrative via LLM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Sends the assembled context + player input to the narrative LLM.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Generates a coherent and consistent DM response considering both immediate actions and long-term history.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D30AE5-F175-FF7B-7CDB-33A8D72A837B}"/>
              </a:ext>
            </a:extLst>
          </p:cNvPr>
          <p:cNvCxnSpPr>
            <a:cxnSpLocks/>
          </p:cNvCxnSpPr>
          <p:nvPr/>
        </p:nvCxnSpPr>
        <p:spPr>
          <a:xfrm>
            <a:off x="3021330" y="853440"/>
            <a:ext cx="1223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6ECE7B-C543-D286-B189-956FE2E937DD}"/>
              </a:ext>
            </a:extLst>
          </p:cNvPr>
          <p:cNvCxnSpPr>
            <a:cxnSpLocks/>
          </p:cNvCxnSpPr>
          <p:nvPr/>
        </p:nvCxnSpPr>
        <p:spPr>
          <a:xfrm>
            <a:off x="6591300" y="1005840"/>
            <a:ext cx="1664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97BB58B-2815-B0E6-E458-E5FD7C387C72}"/>
              </a:ext>
            </a:extLst>
          </p:cNvPr>
          <p:cNvCxnSpPr>
            <a:cxnSpLocks/>
          </p:cNvCxnSpPr>
          <p:nvPr/>
        </p:nvCxnSpPr>
        <p:spPr>
          <a:xfrm>
            <a:off x="9795510" y="5227320"/>
            <a:ext cx="21678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29E87B-1B92-8D1F-9BC7-0AC314F3E895}"/>
              </a:ext>
            </a:extLst>
          </p:cNvPr>
          <p:cNvCxnSpPr>
            <a:cxnSpLocks/>
          </p:cNvCxnSpPr>
          <p:nvPr/>
        </p:nvCxnSpPr>
        <p:spPr>
          <a:xfrm>
            <a:off x="5103495" y="5227320"/>
            <a:ext cx="4400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2000AB-F656-513A-3764-8EF9736DA21D}"/>
              </a:ext>
            </a:extLst>
          </p:cNvPr>
          <p:cNvCxnSpPr>
            <a:cxnSpLocks/>
          </p:cNvCxnSpPr>
          <p:nvPr/>
        </p:nvCxnSpPr>
        <p:spPr>
          <a:xfrm flipH="1">
            <a:off x="4316730" y="2910840"/>
            <a:ext cx="7867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447E93-E010-AFFE-AC7D-298465C6DF23}"/>
              </a:ext>
            </a:extLst>
          </p:cNvPr>
          <p:cNvCxnSpPr>
            <a:cxnSpLocks/>
          </p:cNvCxnSpPr>
          <p:nvPr/>
        </p:nvCxnSpPr>
        <p:spPr>
          <a:xfrm flipH="1">
            <a:off x="8107680" y="2952107"/>
            <a:ext cx="1996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A2B822-4334-4799-31A2-AAA27D8FD49C}"/>
              </a:ext>
            </a:extLst>
          </p:cNvPr>
          <p:cNvCxnSpPr>
            <a:cxnSpLocks/>
          </p:cNvCxnSpPr>
          <p:nvPr/>
        </p:nvCxnSpPr>
        <p:spPr>
          <a:xfrm>
            <a:off x="2103120" y="3577337"/>
            <a:ext cx="0" cy="796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A91FAD-5149-FEE3-26F3-79B527902FC2}"/>
              </a:ext>
            </a:extLst>
          </p:cNvPr>
          <p:cNvCxnSpPr/>
          <p:nvPr/>
        </p:nvCxnSpPr>
        <p:spPr>
          <a:xfrm>
            <a:off x="10119360" y="1844040"/>
            <a:ext cx="0" cy="1108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182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9DB07E-33C5-374E-690A-810F83D58A20}"/>
              </a:ext>
            </a:extLst>
          </p:cNvPr>
          <p:cNvSpPr/>
          <p:nvPr/>
        </p:nvSpPr>
        <p:spPr>
          <a:xfrm>
            <a:off x="807720" y="670560"/>
            <a:ext cx="6187440" cy="1737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7EA6A1-6F4B-E36F-CAA7-2E3A3C892087}"/>
              </a:ext>
            </a:extLst>
          </p:cNvPr>
          <p:cNvSpPr/>
          <p:nvPr/>
        </p:nvSpPr>
        <p:spPr>
          <a:xfrm>
            <a:off x="807720" y="3227251"/>
            <a:ext cx="4465320" cy="2213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8D46EB-D23A-C8A3-0A56-2C3317CDA769}"/>
              </a:ext>
            </a:extLst>
          </p:cNvPr>
          <p:cNvSpPr/>
          <p:nvPr/>
        </p:nvSpPr>
        <p:spPr>
          <a:xfrm>
            <a:off x="7673340" y="579120"/>
            <a:ext cx="3909060" cy="1996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Extract New Facts from DM Response</a:t>
            </a:r>
            <a:endParaRPr lang="en-US" dirty="0"/>
          </a:p>
          <a:p>
            <a:r>
              <a:rPr lang="en-US" dirty="0"/>
              <a:t>Uses the initial LLM to identify new entities and relationships from the DM response.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2002B7-2DA1-E1C9-C9D3-0DC00F220F6A}"/>
              </a:ext>
            </a:extLst>
          </p:cNvPr>
          <p:cNvSpPr/>
          <p:nvPr/>
        </p:nvSpPr>
        <p:spPr>
          <a:xfrm>
            <a:off x="6564630" y="3160485"/>
            <a:ext cx="4953000" cy="1737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60BAF3-7EEA-10B2-E879-111F10DB0E47}"/>
              </a:ext>
            </a:extLst>
          </p:cNvPr>
          <p:cNvSpPr txBox="1"/>
          <p:nvPr/>
        </p:nvSpPr>
        <p:spPr>
          <a:xfrm>
            <a:off x="1066800" y="939075"/>
            <a:ext cx="5806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Save Full Turn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the complete turn (player input + DM response)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Episodic vector store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Working buffer (short-term memory)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2F38E4-1EF6-01FE-0221-B9E3A939D3A5}"/>
              </a:ext>
            </a:extLst>
          </p:cNvPr>
          <p:cNvSpPr txBox="1"/>
          <p:nvPr/>
        </p:nvSpPr>
        <p:spPr>
          <a:xfrm>
            <a:off x="6656070" y="3429000"/>
            <a:ext cx="495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Update Knowledge Graph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new entities and relationships in the graph.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Updates entity states (e.g., alive/dead) to maintain consistency.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A73A5C-F8BF-F33A-0517-CA0DDE651BAA}"/>
              </a:ext>
            </a:extLst>
          </p:cNvPr>
          <p:cNvSpPr txBox="1"/>
          <p:nvPr/>
        </p:nvSpPr>
        <p:spPr>
          <a:xfrm>
            <a:off x="1066800" y="342900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Next Turn Preparation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Manager now has updated: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Working buffer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Episodic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Knowledge 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Ready to process the next player input.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197EF4-EFBA-B9C3-B796-7CD537AE1654}"/>
              </a:ext>
            </a:extLst>
          </p:cNvPr>
          <p:cNvCxnSpPr/>
          <p:nvPr/>
        </p:nvCxnSpPr>
        <p:spPr>
          <a:xfrm>
            <a:off x="0" y="1356360"/>
            <a:ext cx="807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E73635-71A9-FFC2-0C99-CAB36568CA2D}"/>
              </a:ext>
            </a:extLst>
          </p:cNvPr>
          <p:cNvCxnSpPr>
            <a:cxnSpLocks/>
          </p:cNvCxnSpPr>
          <p:nvPr/>
        </p:nvCxnSpPr>
        <p:spPr>
          <a:xfrm flipH="1">
            <a:off x="5273040" y="3992880"/>
            <a:ext cx="1318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33670C-D6DB-D4D9-3210-8843400A79C9}"/>
              </a:ext>
            </a:extLst>
          </p:cNvPr>
          <p:cNvCxnSpPr>
            <a:cxnSpLocks/>
          </p:cNvCxnSpPr>
          <p:nvPr/>
        </p:nvCxnSpPr>
        <p:spPr>
          <a:xfrm>
            <a:off x="6995160" y="1447800"/>
            <a:ext cx="678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D54456-282D-A2DD-E6BF-B7119E84EE86}"/>
              </a:ext>
            </a:extLst>
          </p:cNvPr>
          <p:cNvCxnSpPr>
            <a:cxnSpLocks/>
          </p:cNvCxnSpPr>
          <p:nvPr/>
        </p:nvCxnSpPr>
        <p:spPr>
          <a:xfrm>
            <a:off x="9357360" y="2575560"/>
            <a:ext cx="0" cy="58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B499-4A1D-9611-B19E-1A9EF134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>
                <a:latin typeface="Cooper Black" panose="0208090404030B020404" pitchFamily="18" charset="0"/>
              </a:rPr>
              <a:t>ADVANTAGES OF OUR MODEL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E8CA-F56A-5A6B-1986-533EE174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 advantage of our model is the knowledge graph which enables the model along with the semantic search to keep track of complex relationships among various entities.</a:t>
            </a:r>
          </a:p>
          <a:p>
            <a:r>
              <a:rPr lang="en-US" dirty="0"/>
              <a:t>The knowledge graph also holds the state of each entity preventing property collisions such as alive or dead scenarios.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30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1E2E-BF37-6CE7-42E3-CD89DE16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Cooper Black" panose="0208090404030B020404" pitchFamily="18" charset="0"/>
              </a:rPr>
              <a:t>FUTURE ENHANCEMENTS</a:t>
            </a:r>
            <a:endParaRPr lang="en-IN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0F9AD-53F6-3A66-EC73-B70EF2280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a dynamic quest management system.</a:t>
            </a:r>
          </a:p>
          <a:p>
            <a:r>
              <a:rPr lang="en-US" dirty="0"/>
              <a:t>Extracting only the relevant relations from the graph for the user’s query by applying semantic search on them.</a:t>
            </a:r>
          </a:p>
        </p:txBody>
      </p:sp>
    </p:spTree>
    <p:extLst>
      <p:ext uri="{BB962C8B-B14F-4D97-AF65-F5344CB8AC3E}">
        <p14:creationId xmlns:p14="http://schemas.microsoft.com/office/powerpoint/2010/main" val="448755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3571-3437-7C07-24D9-B90EC5B2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Arial Rounded MT Bold" panose="020F0704030504030204" pitchFamily="34" charset="0"/>
              </a:rPr>
              <a:t>THANK YOU !</a:t>
            </a:r>
            <a:endParaRPr lang="en-IN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18115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82</TotalTime>
  <Words>863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Rounded MT Bold</vt:lpstr>
      <vt:lpstr>Britannic Bold</vt:lpstr>
      <vt:lpstr>Cooper Black</vt:lpstr>
      <vt:lpstr>Corbel</vt:lpstr>
      <vt:lpstr>Depth</vt:lpstr>
      <vt:lpstr>TEAM NEXUS</vt:lpstr>
      <vt:lpstr>INTRODUCTION</vt:lpstr>
      <vt:lpstr>BASIC MEMORY ARCHITECHTURE</vt:lpstr>
      <vt:lpstr>LOW LEVEL ARCHITECTURE</vt:lpstr>
      <vt:lpstr>PowerPoint Presentation</vt:lpstr>
      <vt:lpstr>BASIC MODULAR STRUCTURE</vt:lpstr>
      <vt:lpstr>DATAFLOW</vt:lpstr>
      <vt:lpstr>MEMORY READ AND RETRIVAL</vt:lpstr>
      <vt:lpstr>AI RESPONSE GENERATION</vt:lpstr>
      <vt:lpstr>MEMORY UPDATE</vt:lpstr>
      <vt:lpstr>PowerPoint Presentation</vt:lpstr>
      <vt:lpstr>PowerPoint Presentation</vt:lpstr>
      <vt:lpstr>ADVANTAGES OF OUR MODEL</vt:lpstr>
      <vt:lpstr>FUTURE ENHANCEMENTS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Sathvik Prabhu</dc:creator>
  <cp:lastModifiedBy>hp laptop</cp:lastModifiedBy>
  <cp:revision>23</cp:revision>
  <dcterms:created xsi:type="dcterms:W3CDTF">2025-10-11T13:34:16Z</dcterms:created>
  <dcterms:modified xsi:type="dcterms:W3CDTF">2025-10-12T12:25:31Z</dcterms:modified>
</cp:coreProperties>
</file>